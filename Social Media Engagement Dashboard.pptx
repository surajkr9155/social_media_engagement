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34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9852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812800" y="2599690"/>
            <a:ext cx="10266623" cy="64008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1F4E79"/>
                </a:solidFill>
                <a:latin typeface="Arial" pitchFamily="34" charset="0"/>
                <a:ea typeface="Arial" pitchFamily="34" charset="-122"/>
                <a:cs typeface="Arial" pitchFamily="34" charset="-120"/>
              </a:rPr>
              <a:t>Social Media Engagement Dashboard</a:t>
            </a:r>
            <a:endParaRPr lang="en-US" sz="4400" dirty="0"/>
          </a:p>
        </p:txBody>
      </p:sp>
      <p:sp>
        <p:nvSpPr>
          <p:cNvPr id="4" name="Text 2"/>
          <p:cNvSpPr/>
          <p:nvPr/>
        </p:nvSpPr>
        <p:spPr>
          <a:xfrm>
            <a:off x="812800" y="3417570"/>
            <a:ext cx="270474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444444"/>
                </a:solidFill>
                <a:latin typeface="Arial" pitchFamily="34" charset="0"/>
                <a:ea typeface="Arial" pitchFamily="34" charset="-122"/>
                <a:cs typeface="Arial" pitchFamily="34" charset="-120"/>
              </a:rPr>
              <a:t>A Data Analysis Project</a:t>
            </a:r>
            <a:endParaRPr lang="en-US" sz="2000" dirty="0"/>
          </a:p>
        </p:txBody>
      </p:sp>
      <p:sp>
        <p:nvSpPr>
          <p:cNvPr id="5" name="Text 3"/>
          <p:cNvSpPr/>
          <p:nvPr/>
        </p:nvSpPr>
        <p:spPr>
          <a:xfrm>
            <a:off x="812800" y="3976370"/>
            <a:ext cx="229342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4444"/>
                </a:solidFill>
                <a:latin typeface="Arial" pitchFamily="34" charset="0"/>
                <a:ea typeface="Arial" pitchFamily="34" charset="-122"/>
                <a:cs typeface="Arial" pitchFamily="34" charset="-120"/>
              </a:rPr>
              <a:t>Name: [Suraj Kumar]</a:t>
            </a:r>
            <a:endParaRPr lang="en-US" sz="1400" dirty="0"/>
          </a:p>
        </p:txBody>
      </p:sp>
      <p:sp>
        <p:nvSpPr>
          <p:cNvPr id="6" name="Text 4"/>
          <p:cNvSpPr/>
          <p:nvPr/>
        </p:nvSpPr>
        <p:spPr>
          <a:xfrm>
            <a:off x="812799" y="4276090"/>
            <a:ext cx="3171971" cy="381000"/>
          </a:xfrm>
          <a:prstGeom prst="rect">
            <a:avLst/>
          </a:prstGeom>
          <a:noFill/>
          <a:ln/>
        </p:spPr>
        <p:txBody>
          <a:bodyPr wrap="square" lIns="0" tIns="0" rIns="0" bIns="0" rtlCol="0" anchor="t">
            <a:normAutofit fontScale="85000" lnSpcReduction="10000"/>
          </a:bodyPr>
          <a:lstStyle/>
          <a:p>
            <a:pPr marL="0" indent="0" algn="l">
              <a:lnSpc>
                <a:spcPts val="1960"/>
              </a:lnSpc>
              <a:buNone/>
            </a:pPr>
            <a:r>
              <a:rPr lang="en-US" sz="1400" dirty="0">
                <a:solidFill>
                  <a:srgbClr val="444444"/>
                </a:solidFill>
                <a:latin typeface="Arial" pitchFamily="34" charset="0"/>
                <a:ea typeface="Arial" pitchFamily="34" charset="-122"/>
                <a:cs typeface="Arial" pitchFamily="34" charset="-120"/>
              </a:rPr>
              <a:t>Class / Roll No: [Beta 1, 24	EACCS711]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Introduction</a:t>
            </a:r>
            <a:endParaRPr lang="en-US" sz="3200" dirty="0"/>
          </a:p>
        </p:txBody>
      </p:sp>
      <p:sp>
        <p:nvSpPr>
          <p:cNvPr id="3" name="Text 1"/>
          <p:cNvSpPr/>
          <p:nvPr/>
        </p:nvSpPr>
        <p:spPr>
          <a:xfrm>
            <a:off x="812800" y="1584960"/>
            <a:ext cx="10883392" cy="1488440"/>
          </a:xfrm>
          <a:prstGeom prst="rect">
            <a:avLst/>
          </a:prstGeom>
          <a:noFill/>
          <a:ln/>
        </p:spPr>
        <p:txBody>
          <a:bodyPr wrap="square" lIns="0" tIns="0" rIns="0" bIns="0" rtlCol="0" anchor="t">
            <a:normAutofit/>
          </a:bodyPr>
          <a:lstStyle/>
          <a:p>
            <a:pPr marL="274320" indent="-197866" algn="l">
              <a:lnSpc>
                <a:spcPts val="2880"/>
              </a:lnSpc>
              <a:buSzPct val="100000"/>
              <a:buChar char="•"/>
            </a:pPr>
            <a:r>
              <a:rPr lang="en-US" sz="1800" dirty="0">
                <a:solidFill>
                  <a:srgbClr val="222222"/>
                </a:solidFill>
                <a:latin typeface="Arial" pitchFamily="34" charset="0"/>
                <a:ea typeface="Arial" pitchFamily="34" charset="-122"/>
                <a:cs typeface="Arial" pitchFamily="34" charset="-120"/>
              </a:rPr>
              <a:t>This project studies how people engage with brands on social media.</a:t>
            </a:r>
            <a:endParaRPr lang="en-US" sz="1800" dirty="0"/>
          </a:p>
          <a:p>
            <a:pPr marL="274320" indent="-197866" algn="l">
              <a:lnSpc>
                <a:spcPts val="2880"/>
              </a:lnSpc>
              <a:buSzPct val="100000"/>
              <a:buChar char="•"/>
            </a:pPr>
            <a:r>
              <a:rPr lang="en-US" sz="1800" dirty="0">
                <a:solidFill>
                  <a:srgbClr val="222222"/>
                </a:solidFill>
                <a:latin typeface="Arial" pitchFamily="34" charset="0"/>
                <a:ea typeface="Arial" pitchFamily="34" charset="-122"/>
                <a:cs typeface="Arial" pitchFamily="34" charset="-120"/>
              </a:rPr>
              <a:t>Data is collected from 5 platforms: Instagram, Twitter, YouTube, Facebook and Reddit.</a:t>
            </a:r>
            <a:endParaRPr lang="en-US" sz="1800" dirty="0"/>
          </a:p>
          <a:p>
            <a:pPr marL="274320" indent="-197866" algn="l">
              <a:lnSpc>
                <a:spcPts val="2880"/>
              </a:lnSpc>
              <a:buSzPct val="100000"/>
              <a:buChar char="•"/>
            </a:pPr>
            <a:r>
              <a:rPr lang="en-US" sz="1800" dirty="0">
                <a:solidFill>
                  <a:srgbClr val="222222"/>
                </a:solidFill>
                <a:latin typeface="Arial" pitchFamily="34" charset="0"/>
                <a:ea typeface="Arial" pitchFamily="34" charset="-122"/>
                <a:cs typeface="Arial" pitchFamily="34" charset="-120"/>
              </a:rPr>
              <a:t>The dataset has 3,499 posts about 10 well known brands.</a:t>
            </a:r>
            <a:endParaRPr lang="en-US" sz="1800" dirty="0"/>
          </a:p>
          <a:p>
            <a:pPr marL="274320" indent="-197866" algn="l">
              <a:lnSpc>
                <a:spcPts val="2880"/>
              </a:lnSpc>
              <a:buSzPct val="100000"/>
              <a:buChar char="•"/>
            </a:pPr>
            <a:r>
              <a:rPr lang="en-US" sz="1800" dirty="0">
                <a:solidFill>
                  <a:srgbClr val="222222"/>
                </a:solidFill>
                <a:latin typeface="Arial" pitchFamily="34" charset="0"/>
                <a:ea typeface="Arial" pitchFamily="34" charset="-122"/>
                <a:cs typeface="Arial" pitchFamily="34" charset="-120"/>
              </a:rPr>
              <a:t>It shows likes, shares, comments, impressions, sentiment and more for each post.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Objectives</a:t>
            </a:r>
            <a:endParaRPr lang="en-US" sz="3200" dirty="0"/>
          </a:p>
        </p:txBody>
      </p:sp>
      <p:sp>
        <p:nvSpPr>
          <p:cNvPr id="3" name="Text 1"/>
          <p:cNvSpPr/>
          <p:nvPr/>
        </p:nvSpPr>
        <p:spPr>
          <a:xfrm>
            <a:off x="812800" y="1584961"/>
            <a:ext cx="10883392" cy="1854200"/>
          </a:xfrm>
          <a:prstGeom prst="rect">
            <a:avLst/>
          </a:prstGeom>
          <a:noFill/>
          <a:ln/>
        </p:spPr>
        <p:txBody>
          <a:bodyPr wrap="square" lIns="0" tIns="0" rIns="0" bIns="0" rtlCol="0" anchor="t">
            <a:normAutofit/>
          </a:bodyPr>
          <a:lstStyle/>
          <a:p>
            <a:pPr marL="274320" indent="-197866" algn="l">
              <a:lnSpc>
                <a:spcPts val="2880"/>
              </a:lnSpc>
              <a:buSzPct val="100000"/>
              <a:buChar char="•"/>
            </a:pPr>
            <a:r>
              <a:rPr lang="en-US" sz="1800" dirty="0">
                <a:solidFill>
                  <a:srgbClr val="222222"/>
                </a:solidFill>
                <a:latin typeface="Arial" pitchFamily="34" charset="0"/>
                <a:ea typeface="Arial" pitchFamily="34" charset="-122"/>
                <a:cs typeface="Arial" pitchFamily="34" charset="-120"/>
              </a:rPr>
              <a:t>To study social media engagement across different platforms.</a:t>
            </a:r>
            <a:endParaRPr lang="en-US" sz="1800" dirty="0"/>
          </a:p>
          <a:p>
            <a:pPr marL="274320" indent="-197866" algn="l">
              <a:lnSpc>
                <a:spcPts val="2880"/>
              </a:lnSpc>
              <a:buSzPct val="100000"/>
              <a:buChar char="•"/>
            </a:pPr>
            <a:r>
              <a:rPr lang="en-US" sz="1800" dirty="0">
                <a:solidFill>
                  <a:srgbClr val="222222"/>
                </a:solidFill>
                <a:latin typeface="Arial" pitchFamily="34" charset="0"/>
                <a:ea typeface="Arial" pitchFamily="34" charset="-122"/>
                <a:cs typeface="Arial" pitchFamily="34" charset="-120"/>
              </a:rPr>
              <a:t>To compare the engagement rate of each platform.</a:t>
            </a:r>
            <a:endParaRPr lang="en-US" sz="1800" dirty="0"/>
          </a:p>
          <a:p>
            <a:pPr marL="274320" indent="-197866" algn="l">
              <a:lnSpc>
                <a:spcPts val="2880"/>
              </a:lnSpc>
              <a:buSzPct val="100000"/>
              <a:buChar char="•"/>
            </a:pPr>
            <a:r>
              <a:rPr lang="en-US" sz="1800" dirty="0">
                <a:solidFill>
                  <a:srgbClr val="222222"/>
                </a:solidFill>
                <a:latin typeface="Arial" pitchFamily="34" charset="0"/>
                <a:ea typeface="Arial" pitchFamily="34" charset="-122"/>
                <a:cs typeface="Arial" pitchFamily="34" charset="-120"/>
              </a:rPr>
              <a:t>To analyse customer sentiment (positive, negative, neutral).</a:t>
            </a:r>
            <a:endParaRPr lang="en-US" sz="1800" dirty="0"/>
          </a:p>
          <a:p>
            <a:pPr marL="274320" indent="-197866" algn="l">
              <a:lnSpc>
                <a:spcPts val="2880"/>
              </a:lnSpc>
              <a:buSzPct val="100000"/>
              <a:buChar char="•"/>
            </a:pPr>
            <a:r>
              <a:rPr lang="en-US" sz="1800" dirty="0">
                <a:solidFill>
                  <a:srgbClr val="222222"/>
                </a:solidFill>
                <a:latin typeface="Arial" pitchFamily="34" charset="0"/>
                <a:ea typeface="Arial" pitchFamily="34" charset="-122"/>
                <a:cs typeface="Arial" pitchFamily="34" charset="-120"/>
              </a:rPr>
              <a:t>To find the top performing brand.</a:t>
            </a:r>
            <a:endParaRPr lang="en-US" sz="1800" dirty="0"/>
          </a:p>
          <a:p>
            <a:pPr marL="274320" indent="-197866" algn="l">
              <a:lnSpc>
                <a:spcPts val="2880"/>
              </a:lnSpc>
              <a:buSzPct val="100000"/>
              <a:buChar char="•"/>
            </a:pPr>
            <a:r>
              <a:rPr lang="en-US" sz="1800" dirty="0">
                <a:solidFill>
                  <a:srgbClr val="222222"/>
                </a:solidFill>
                <a:latin typeface="Arial" pitchFamily="34" charset="0"/>
                <a:ea typeface="Arial" pitchFamily="34" charset="-122"/>
                <a:cs typeface="Arial" pitchFamily="34" charset="-120"/>
              </a:rPr>
              <a:t>To find which day of the week gets the most engagement.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About the Dataset</a:t>
            </a:r>
            <a:endParaRPr lang="en-US" sz="3200" dirty="0"/>
          </a:p>
        </p:txBody>
      </p:sp>
      <p:sp>
        <p:nvSpPr>
          <p:cNvPr id="3" name="Text 1"/>
          <p:cNvSpPr/>
          <p:nvPr/>
        </p:nvSpPr>
        <p:spPr>
          <a:xfrm>
            <a:off x="812800" y="1584961"/>
            <a:ext cx="10883392" cy="1752600"/>
          </a:xfrm>
          <a:prstGeom prst="rect">
            <a:avLst/>
          </a:prstGeom>
          <a:noFill/>
          <a:ln/>
        </p:spPr>
        <p:txBody>
          <a:bodyPr wrap="square" lIns="0" tIns="0" rIns="0" bIns="0" rtlCol="0" anchor="t">
            <a:normAutofit/>
          </a:bodyPr>
          <a:lstStyle/>
          <a:p>
            <a:pPr marL="259080" indent="-184404" algn="l">
              <a:lnSpc>
                <a:spcPts val="2720"/>
              </a:lnSpc>
              <a:buSzPct val="100000"/>
              <a:buChar char="•"/>
            </a:pPr>
            <a:r>
              <a:rPr lang="en-US" sz="1700" dirty="0">
                <a:solidFill>
                  <a:srgbClr val="222222"/>
                </a:solidFill>
                <a:latin typeface="Arial" pitchFamily="34" charset="0"/>
                <a:ea typeface="Arial" pitchFamily="34" charset="-122"/>
                <a:cs typeface="Arial" pitchFamily="34" charset="-120"/>
              </a:rPr>
              <a:t>Total rows (posts): 3,499</a:t>
            </a:r>
            <a:endParaRPr lang="en-US" sz="1700" dirty="0"/>
          </a:p>
          <a:p>
            <a:pPr marL="259080" indent="-184404" algn="l">
              <a:lnSpc>
                <a:spcPts val="2720"/>
              </a:lnSpc>
              <a:buSzPct val="100000"/>
              <a:buChar char="•"/>
            </a:pPr>
            <a:r>
              <a:rPr lang="en-US" sz="1700" dirty="0">
                <a:solidFill>
                  <a:srgbClr val="222222"/>
                </a:solidFill>
                <a:latin typeface="Arial" pitchFamily="34" charset="0"/>
                <a:ea typeface="Arial" pitchFamily="34" charset="-122"/>
                <a:cs typeface="Arial" pitchFamily="34" charset="-120"/>
              </a:rPr>
              <a:t>Platforms: Instagram, Twitter, YouTube, Facebook, Reddit</a:t>
            </a:r>
            <a:endParaRPr lang="en-US" sz="1700" dirty="0"/>
          </a:p>
          <a:p>
            <a:pPr marL="259080" indent="-184404" algn="l">
              <a:lnSpc>
                <a:spcPts val="2720"/>
              </a:lnSpc>
              <a:buSzPct val="100000"/>
              <a:buChar char="•"/>
            </a:pPr>
            <a:r>
              <a:rPr lang="en-US" sz="1700" dirty="0">
                <a:solidFill>
                  <a:srgbClr val="222222"/>
                </a:solidFill>
                <a:latin typeface="Arial" pitchFamily="34" charset="0"/>
                <a:ea typeface="Arial" pitchFamily="34" charset="-122"/>
                <a:cs typeface="Arial" pitchFamily="34" charset="-120"/>
              </a:rPr>
              <a:t>Brands: Nike, Adidas, Samsung, Apple, Google, Microsoft, Coca-Cola, Pepsi, Toyota, Amazon</a:t>
            </a:r>
            <a:endParaRPr lang="en-US" sz="1700" dirty="0"/>
          </a:p>
          <a:p>
            <a:pPr marL="259080" indent="-184404" algn="l">
              <a:lnSpc>
                <a:spcPts val="2720"/>
              </a:lnSpc>
              <a:buSzPct val="100000"/>
              <a:buChar char="•"/>
            </a:pPr>
            <a:r>
              <a:rPr lang="en-US" sz="1700" dirty="0">
                <a:solidFill>
                  <a:srgbClr val="222222"/>
                </a:solidFill>
                <a:latin typeface="Arial" pitchFamily="34" charset="0"/>
                <a:ea typeface="Arial" pitchFamily="34" charset="-122"/>
                <a:cs typeface="Arial" pitchFamily="34" charset="-120"/>
              </a:rPr>
              <a:t>Key columns: timestamp, day of week, platform, likes, shares, comments, impressions, engagement rate, sentiment, brand, product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Key Metrics</a:t>
            </a:r>
            <a:endParaRPr lang="en-US" sz="3200" dirty="0"/>
          </a:p>
        </p:txBody>
      </p:sp>
      <p:sp>
        <p:nvSpPr>
          <p:cNvPr id="3" name="Shape 1"/>
          <p:cNvSpPr/>
          <p:nvPr/>
        </p:nvSpPr>
        <p:spPr>
          <a:xfrm>
            <a:off x="812800" y="1635761"/>
            <a:ext cx="5181600" cy="1242060"/>
          </a:xfrm>
          <a:prstGeom prst="roundRect">
            <a:avLst>
              <a:gd name="adj" fmla="val 6135"/>
            </a:avLst>
          </a:prstGeom>
          <a:solidFill>
            <a:srgbClr val="F2F2F2"/>
          </a:solidFill>
          <a:ln/>
        </p:spPr>
      </p:sp>
      <p:sp>
        <p:nvSpPr>
          <p:cNvPr id="4" name="Text 2"/>
          <p:cNvSpPr/>
          <p:nvPr/>
        </p:nvSpPr>
        <p:spPr>
          <a:xfrm>
            <a:off x="1066800" y="1889761"/>
            <a:ext cx="481380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4444"/>
                </a:solidFill>
                <a:latin typeface="Arial" pitchFamily="34" charset="0"/>
                <a:ea typeface="Arial" pitchFamily="34" charset="-122"/>
                <a:cs typeface="Arial" pitchFamily="34" charset="-120"/>
              </a:rPr>
              <a:t>Total Posts</a:t>
            </a:r>
            <a:endParaRPr lang="en-US" sz="1300" dirty="0"/>
          </a:p>
        </p:txBody>
      </p:sp>
      <p:sp>
        <p:nvSpPr>
          <p:cNvPr id="5" name="Text 3"/>
          <p:cNvSpPr/>
          <p:nvPr/>
        </p:nvSpPr>
        <p:spPr>
          <a:xfrm>
            <a:off x="1066800" y="2197100"/>
            <a:ext cx="4813808"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1F4E79"/>
                </a:solidFill>
                <a:latin typeface="Arial" pitchFamily="34" charset="0"/>
                <a:ea typeface="Arial" pitchFamily="34" charset="-122"/>
                <a:cs typeface="Arial" pitchFamily="34" charset="-120"/>
              </a:rPr>
              <a:t>3,499</a:t>
            </a:r>
            <a:endParaRPr lang="en-US" sz="2800" dirty="0"/>
          </a:p>
        </p:txBody>
      </p:sp>
      <p:sp>
        <p:nvSpPr>
          <p:cNvPr id="6" name="Shape 4"/>
          <p:cNvSpPr/>
          <p:nvPr/>
        </p:nvSpPr>
        <p:spPr>
          <a:xfrm>
            <a:off x="6197600" y="1635761"/>
            <a:ext cx="5181600" cy="1242060"/>
          </a:xfrm>
          <a:prstGeom prst="roundRect">
            <a:avLst>
              <a:gd name="adj" fmla="val 6135"/>
            </a:avLst>
          </a:prstGeom>
          <a:solidFill>
            <a:srgbClr val="F2F2F2"/>
          </a:solidFill>
          <a:ln/>
        </p:spPr>
      </p:sp>
      <p:sp>
        <p:nvSpPr>
          <p:cNvPr id="7" name="Text 5"/>
          <p:cNvSpPr/>
          <p:nvPr/>
        </p:nvSpPr>
        <p:spPr>
          <a:xfrm>
            <a:off x="6451600" y="1889761"/>
            <a:ext cx="481380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4444"/>
                </a:solidFill>
                <a:latin typeface="Arial" pitchFamily="34" charset="0"/>
                <a:ea typeface="Arial" pitchFamily="34" charset="-122"/>
                <a:cs typeface="Arial" pitchFamily="34" charset="-120"/>
              </a:rPr>
              <a:t>Total Engagement</a:t>
            </a:r>
            <a:endParaRPr lang="en-US" sz="1300" dirty="0"/>
          </a:p>
        </p:txBody>
      </p:sp>
      <p:sp>
        <p:nvSpPr>
          <p:cNvPr id="8" name="Text 6"/>
          <p:cNvSpPr/>
          <p:nvPr/>
        </p:nvSpPr>
        <p:spPr>
          <a:xfrm>
            <a:off x="6451600" y="2197100"/>
            <a:ext cx="4813808"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1F4E79"/>
                </a:solidFill>
                <a:latin typeface="Arial" pitchFamily="34" charset="0"/>
                <a:ea typeface="Arial" pitchFamily="34" charset="-122"/>
                <a:cs typeface="Arial" pitchFamily="34" charset="-120"/>
              </a:rPr>
              <a:t>1.39 Crore</a:t>
            </a:r>
            <a:endParaRPr lang="en-US" sz="2800" dirty="0"/>
          </a:p>
        </p:txBody>
      </p:sp>
      <p:sp>
        <p:nvSpPr>
          <p:cNvPr id="9" name="Shape 7"/>
          <p:cNvSpPr/>
          <p:nvPr/>
        </p:nvSpPr>
        <p:spPr>
          <a:xfrm>
            <a:off x="812800" y="3233421"/>
            <a:ext cx="5181600" cy="1242060"/>
          </a:xfrm>
          <a:prstGeom prst="roundRect">
            <a:avLst>
              <a:gd name="adj" fmla="val 6135"/>
            </a:avLst>
          </a:prstGeom>
          <a:solidFill>
            <a:srgbClr val="F2F2F2"/>
          </a:solidFill>
          <a:ln/>
        </p:spPr>
      </p:sp>
      <p:sp>
        <p:nvSpPr>
          <p:cNvPr id="10" name="Text 8"/>
          <p:cNvSpPr/>
          <p:nvPr/>
        </p:nvSpPr>
        <p:spPr>
          <a:xfrm>
            <a:off x="1066800" y="3487421"/>
            <a:ext cx="481380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4444"/>
                </a:solidFill>
                <a:latin typeface="Arial" pitchFamily="34" charset="0"/>
                <a:ea typeface="Arial" pitchFamily="34" charset="-122"/>
                <a:cs typeface="Arial" pitchFamily="34" charset="-120"/>
              </a:rPr>
              <a:t>Total Impressions</a:t>
            </a:r>
            <a:endParaRPr lang="en-US" sz="1300" dirty="0"/>
          </a:p>
        </p:txBody>
      </p:sp>
      <p:sp>
        <p:nvSpPr>
          <p:cNvPr id="11" name="Text 9"/>
          <p:cNvSpPr/>
          <p:nvPr/>
        </p:nvSpPr>
        <p:spPr>
          <a:xfrm>
            <a:off x="1066800" y="3794761"/>
            <a:ext cx="4813808"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1F4E79"/>
                </a:solidFill>
                <a:latin typeface="Arial" pitchFamily="34" charset="0"/>
                <a:ea typeface="Arial" pitchFamily="34" charset="-122"/>
                <a:cs typeface="Arial" pitchFamily="34" charset="-120"/>
              </a:rPr>
              <a:t>17.4 Crore</a:t>
            </a:r>
            <a:endParaRPr lang="en-US" sz="2800" dirty="0"/>
          </a:p>
        </p:txBody>
      </p:sp>
      <p:sp>
        <p:nvSpPr>
          <p:cNvPr id="12" name="Shape 10"/>
          <p:cNvSpPr/>
          <p:nvPr/>
        </p:nvSpPr>
        <p:spPr>
          <a:xfrm>
            <a:off x="6197600" y="3233421"/>
            <a:ext cx="5181600" cy="1242060"/>
          </a:xfrm>
          <a:prstGeom prst="roundRect">
            <a:avLst>
              <a:gd name="adj" fmla="val 6135"/>
            </a:avLst>
          </a:prstGeom>
          <a:solidFill>
            <a:srgbClr val="F2F2F2"/>
          </a:solidFill>
          <a:ln/>
        </p:spPr>
      </p:sp>
      <p:sp>
        <p:nvSpPr>
          <p:cNvPr id="13" name="Text 11"/>
          <p:cNvSpPr/>
          <p:nvPr/>
        </p:nvSpPr>
        <p:spPr>
          <a:xfrm>
            <a:off x="6451600" y="3487421"/>
            <a:ext cx="481380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44444"/>
                </a:solidFill>
                <a:latin typeface="Arial" pitchFamily="34" charset="0"/>
                <a:ea typeface="Arial" pitchFamily="34" charset="-122"/>
                <a:cs typeface="Arial" pitchFamily="34" charset="-120"/>
              </a:rPr>
              <a:t>Avg Engagement Rate</a:t>
            </a:r>
            <a:endParaRPr lang="en-US" sz="1300" dirty="0"/>
          </a:p>
        </p:txBody>
      </p:sp>
      <p:sp>
        <p:nvSpPr>
          <p:cNvPr id="14" name="Text 12"/>
          <p:cNvSpPr/>
          <p:nvPr/>
        </p:nvSpPr>
        <p:spPr>
          <a:xfrm>
            <a:off x="6451600" y="3794761"/>
            <a:ext cx="4813808"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1F4E79"/>
                </a:solidFill>
                <a:latin typeface="Arial" pitchFamily="34" charset="0"/>
                <a:ea typeface="Arial" pitchFamily="34" charset="-122"/>
                <a:cs typeface="Arial" pitchFamily="34" charset="-120"/>
              </a:rPr>
              <a:t>29.5%</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Posts by Platform</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44321"/>
          <a:ext cx="3926840" cy="2621280"/>
        </p:xfrm>
        <a:graphic>
          <a:graphicData uri="http://schemas.openxmlformats.org/drawingml/2006/table">
            <a:tbl>
              <a:tblPr/>
              <a:tblGrid>
                <a:gridCol w="1963420">
                  <a:extLst>
                    <a:ext uri="{9D8B030D-6E8A-4147-A177-3AD203B41FA5}">
                      <a16:colId xmlns:a16="http://schemas.microsoft.com/office/drawing/2014/main" val="20000"/>
                    </a:ext>
                  </a:extLst>
                </a:gridCol>
                <a:gridCol w="1963420">
                  <a:extLst>
                    <a:ext uri="{9D8B030D-6E8A-4147-A177-3AD203B41FA5}">
                      <a16:colId xmlns:a16="http://schemas.microsoft.com/office/drawing/2014/main" val="20001"/>
                    </a:ext>
                  </a:extLst>
                </a:gridCol>
              </a:tblGrid>
              <a:tr h="436880">
                <a:tc>
                  <a:txBody>
                    <a:bodyPr/>
                    <a:lstStyle/>
                    <a:p>
                      <a:pPr marL="0" indent="0">
                        <a:lnSpc>
                          <a:spcPts val="1960"/>
                        </a:lnSpc>
                        <a:buNone/>
                      </a:pPr>
                      <a:r>
                        <a:rPr lang="en-US" sz="1400" b="1" dirty="0">
                          <a:solidFill>
                            <a:srgbClr val="1F4E79"/>
                          </a:solidFill>
                          <a:latin typeface="Arial" pitchFamily="34" charset="0"/>
                          <a:ea typeface="Arial" pitchFamily="34" charset="-122"/>
                          <a:cs typeface="Arial" pitchFamily="34" charset="-120"/>
                        </a:rPr>
                        <a:t>Platform</a:t>
                      </a:r>
                      <a:endParaRPr lang="en-US" sz="14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1960"/>
                        </a:lnSpc>
                        <a:buNone/>
                      </a:pPr>
                      <a:r>
                        <a:rPr lang="en-US" sz="1400" b="1" dirty="0">
                          <a:solidFill>
                            <a:srgbClr val="1F4E79"/>
                          </a:solidFill>
                          <a:latin typeface="Arial" pitchFamily="34" charset="0"/>
                          <a:ea typeface="Arial" pitchFamily="34" charset="-122"/>
                          <a:cs typeface="Arial" pitchFamily="34" charset="-120"/>
                        </a:rPr>
                        <a:t>Posts</a:t>
                      </a:r>
                      <a:endParaRPr lang="en-US" sz="1400" dirty="0">
                        <a:latin typeface="Arial" charset="0"/>
                        <a:ea typeface="Arial" charset="0"/>
                        <a:cs typeface="Arial" charset="0"/>
                      </a:endParaRPr>
                    </a:p>
                  </a:txBody>
                  <a:tcPr marL="88900" marR="88900" marT="88900" marB="889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436880">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YouTube</a:t>
                      </a:r>
                      <a:endParaRPr lang="en-US" sz="14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A1A1A"/>
                          </a:solidFill>
                          <a:latin typeface="Arial" pitchFamily="34" charset="0"/>
                          <a:ea typeface="Arial" pitchFamily="34" charset="-122"/>
                          <a:cs typeface="Arial" pitchFamily="34" charset="-120"/>
                        </a:rPr>
                        <a:t>719</a:t>
                      </a:r>
                      <a:endParaRPr lang="en-US" sz="14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36880">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Facebook</a:t>
                      </a:r>
                      <a:endParaRPr lang="en-US" sz="14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A1A1A"/>
                          </a:solidFill>
                          <a:latin typeface="Arial" pitchFamily="34" charset="0"/>
                          <a:ea typeface="Arial" pitchFamily="34" charset="-122"/>
                          <a:cs typeface="Arial" pitchFamily="34" charset="-120"/>
                        </a:rPr>
                        <a:t>719</a:t>
                      </a:r>
                      <a:endParaRPr lang="en-US" sz="14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36880">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Twitter</a:t>
                      </a:r>
                      <a:endParaRPr lang="en-US" sz="14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A1A1A"/>
                          </a:solidFill>
                          <a:latin typeface="Arial" pitchFamily="34" charset="0"/>
                          <a:ea typeface="Arial" pitchFamily="34" charset="-122"/>
                          <a:cs typeface="Arial" pitchFamily="34" charset="-120"/>
                        </a:rPr>
                        <a:t>708</a:t>
                      </a:r>
                      <a:endParaRPr lang="en-US" sz="14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436880">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Instagram</a:t>
                      </a:r>
                      <a:endParaRPr lang="en-US" sz="14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A1A1A"/>
                          </a:solidFill>
                          <a:latin typeface="Arial" pitchFamily="34" charset="0"/>
                          <a:ea typeface="Arial" pitchFamily="34" charset="-122"/>
                          <a:cs typeface="Arial" pitchFamily="34" charset="-120"/>
                        </a:rPr>
                        <a:t>698</a:t>
                      </a:r>
                      <a:endParaRPr lang="en-US" sz="14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436880">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Reddit</a:t>
                      </a:r>
                      <a:endParaRPr lang="en-US" sz="14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A1A1A"/>
                          </a:solidFill>
                          <a:latin typeface="Arial" pitchFamily="34" charset="0"/>
                          <a:ea typeface="Arial" pitchFamily="34" charset="-122"/>
                          <a:cs typeface="Arial" pitchFamily="34" charset="-120"/>
                        </a:rPr>
                        <a:t>655</a:t>
                      </a:r>
                      <a:endParaRPr lang="en-US" sz="14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8" name="Picture 7">
            <a:extLst>
              <a:ext uri="{FF2B5EF4-FFF2-40B4-BE49-F238E27FC236}">
                <a16:creationId xmlns:a16="http://schemas.microsoft.com/office/drawing/2014/main" id="{8626DC6B-389B-A5F6-2E85-8E94902EE895}"/>
              </a:ext>
            </a:extLst>
          </p:cNvPr>
          <p:cNvPicPr>
            <a:picLocks noChangeAspect="1"/>
          </p:cNvPicPr>
          <p:nvPr/>
        </p:nvPicPr>
        <p:blipFill>
          <a:blip r:embed="rId3"/>
          <a:stretch>
            <a:fillRect/>
          </a:stretch>
        </p:blipFill>
        <p:spPr>
          <a:xfrm>
            <a:off x="5121478" y="812800"/>
            <a:ext cx="6462320" cy="50448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Total Engagement by Platform</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95121"/>
          <a:ext cx="10556240" cy="324612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541020">
                <a:tc>
                  <a:txBody>
                    <a:bodyPr/>
                    <a:lstStyle/>
                    <a:p>
                      <a:pPr marL="0" indent="0">
                        <a:lnSpc>
                          <a:spcPts val="2380"/>
                        </a:lnSpc>
                        <a:buNone/>
                      </a:pPr>
                      <a:r>
                        <a:rPr lang="en-US" sz="1700" b="1" dirty="0">
                          <a:solidFill>
                            <a:srgbClr val="1F4E79"/>
                          </a:solidFill>
                          <a:latin typeface="Arial" pitchFamily="34" charset="0"/>
                          <a:ea typeface="Arial" pitchFamily="34" charset="-122"/>
                          <a:cs typeface="Arial" pitchFamily="34" charset="-120"/>
                        </a:rPr>
                        <a:t>Platform</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2380"/>
                        </a:lnSpc>
                        <a:buNone/>
                      </a:pPr>
                      <a:r>
                        <a:rPr lang="en-US" sz="1700" b="1" dirty="0">
                          <a:solidFill>
                            <a:srgbClr val="1F4E79"/>
                          </a:solidFill>
                          <a:latin typeface="Arial" pitchFamily="34" charset="0"/>
                          <a:ea typeface="Arial" pitchFamily="34" charset="-122"/>
                          <a:cs typeface="Arial" pitchFamily="34" charset="-120"/>
                        </a:rPr>
                        <a:t>Total Engagement</a:t>
                      </a:r>
                      <a:endParaRPr lang="en-US" sz="1700" dirty="0">
                        <a:latin typeface="Arial" charset="0"/>
                        <a:ea typeface="Arial" charset="0"/>
                        <a:cs typeface="Arial" charset="0"/>
                      </a:endParaRPr>
                    </a:p>
                  </a:txBody>
                  <a:tcPr marL="114300" marR="114300" marT="114300" marB="1143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YouTube</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29,08,186</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Facebook</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28,46,285</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Instagram</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28,31,846</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Twitter</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27,28,183</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Reddit</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26,28,080</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Avg Engagement Rate by Platform</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95121"/>
          <a:ext cx="10556240" cy="324612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541020">
                <a:tc>
                  <a:txBody>
                    <a:bodyPr/>
                    <a:lstStyle/>
                    <a:p>
                      <a:pPr marL="0" indent="0">
                        <a:lnSpc>
                          <a:spcPts val="2380"/>
                        </a:lnSpc>
                        <a:buNone/>
                      </a:pPr>
                      <a:r>
                        <a:rPr lang="en-US" sz="1700" b="1" dirty="0">
                          <a:solidFill>
                            <a:srgbClr val="1F4E79"/>
                          </a:solidFill>
                          <a:latin typeface="Arial" pitchFamily="34" charset="0"/>
                          <a:ea typeface="Arial" pitchFamily="34" charset="-122"/>
                          <a:cs typeface="Arial" pitchFamily="34" charset="-120"/>
                        </a:rPr>
                        <a:t>Platform</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2380"/>
                        </a:lnSpc>
                        <a:buNone/>
                      </a:pPr>
                      <a:r>
                        <a:rPr lang="en-US" sz="1700" b="1" dirty="0">
                          <a:solidFill>
                            <a:srgbClr val="1F4E79"/>
                          </a:solidFill>
                          <a:latin typeface="Arial" pitchFamily="34" charset="0"/>
                          <a:ea typeface="Arial" pitchFamily="34" charset="-122"/>
                          <a:cs typeface="Arial" pitchFamily="34" charset="-120"/>
                        </a:rPr>
                        <a:t>Avg Engagement Rate</a:t>
                      </a:r>
                      <a:endParaRPr lang="en-US" sz="1700" dirty="0">
                        <a:latin typeface="Arial" charset="0"/>
                        <a:ea typeface="Arial" charset="0"/>
                        <a:cs typeface="Arial" charset="0"/>
                      </a:endParaRPr>
                    </a:p>
                  </a:txBody>
                  <a:tcPr marL="114300" marR="114300" marT="114300" marB="1143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Facebook</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33.3%</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Reddit</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33.3%</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Instagram</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29.0%</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YouTube</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27.3%</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Twitter</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25.0%</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Sentiment Analysis</a:t>
            </a:r>
            <a:endParaRPr lang="en-US" sz="3200" dirty="0"/>
          </a:p>
        </p:txBody>
      </p:sp>
      <p:sp>
        <p:nvSpPr>
          <p:cNvPr id="3" name="Shape 1"/>
          <p:cNvSpPr/>
          <p:nvPr/>
        </p:nvSpPr>
        <p:spPr>
          <a:xfrm>
            <a:off x="812800" y="1635764"/>
            <a:ext cx="3386614" cy="1259840"/>
          </a:xfrm>
          <a:prstGeom prst="roundRect">
            <a:avLst>
              <a:gd name="adj" fmla="val 6048"/>
            </a:avLst>
          </a:prstGeom>
          <a:solidFill>
            <a:srgbClr val="F2F2F2"/>
          </a:solidFill>
          <a:ln/>
        </p:spPr>
      </p:sp>
      <p:sp>
        <p:nvSpPr>
          <p:cNvPr id="4" name="Text 2"/>
          <p:cNvSpPr/>
          <p:nvPr/>
        </p:nvSpPr>
        <p:spPr>
          <a:xfrm>
            <a:off x="1066800" y="1889764"/>
            <a:ext cx="296497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4444"/>
                </a:solidFill>
                <a:latin typeface="Arial" pitchFamily="34" charset="0"/>
                <a:ea typeface="Arial" pitchFamily="34" charset="-122"/>
                <a:cs typeface="Arial" pitchFamily="34" charset="-120"/>
              </a:rPr>
              <a:t>Negative</a:t>
            </a:r>
            <a:endParaRPr lang="en-US" sz="1400" dirty="0"/>
          </a:p>
        </p:txBody>
      </p:sp>
      <p:sp>
        <p:nvSpPr>
          <p:cNvPr id="5" name="Text 3"/>
          <p:cNvSpPr/>
          <p:nvPr/>
        </p:nvSpPr>
        <p:spPr>
          <a:xfrm>
            <a:off x="1066800" y="2214879"/>
            <a:ext cx="2964972"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1F4E79"/>
                </a:solidFill>
                <a:latin typeface="Arial" pitchFamily="34" charset="0"/>
                <a:ea typeface="Arial" pitchFamily="34" charset="-122"/>
                <a:cs typeface="Arial" pitchFamily="34" charset="-120"/>
              </a:rPr>
              <a:t>1,426 (40.8%)</a:t>
            </a:r>
            <a:endParaRPr lang="en-US" sz="2800" dirty="0"/>
          </a:p>
        </p:txBody>
      </p:sp>
      <p:sp>
        <p:nvSpPr>
          <p:cNvPr id="6" name="Shape 4"/>
          <p:cNvSpPr/>
          <p:nvPr/>
        </p:nvSpPr>
        <p:spPr>
          <a:xfrm>
            <a:off x="4402614" y="1635764"/>
            <a:ext cx="3386693" cy="1259840"/>
          </a:xfrm>
          <a:prstGeom prst="roundRect">
            <a:avLst>
              <a:gd name="adj" fmla="val 6048"/>
            </a:avLst>
          </a:prstGeom>
          <a:solidFill>
            <a:srgbClr val="F2F2F2"/>
          </a:solidFill>
          <a:ln/>
        </p:spPr>
      </p:sp>
      <p:sp>
        <p:nvSpPr>
          <p:cNvPr id="7" name="Text 5"/>
          <p:cNvSpPr/>
          <p:nvPr/>
        </p:nvSpPr>
        <p:spPr>
          <a:xfrm>
            <a:off x="4656614" y="1889764"/>
            <a:ext cx="296505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4444"/>
                </a:solidFill>
                <a:latin typeface="Arial" pitchFamily="34" charset="0"/>
                <a:ea typeface="Arial" pitchFamily="34" charset="-122"/>
                <a:cs typeface="Arial" pitchFamily="34" charset="-120"/>
              </a:rPr>
              <a:t>Positive</a:t>
            </a:r>
            <a:endParaRPr lang="en-US" sz="1400" dirty="0"/>
          </a:p>
        </p:txBody>
      </p:sp>
      <p:sp>
        <p:nvSpPr>
          <p:cNvPr id="8" name="Text 6"/>
          <p:cNvSpPr/>
          <p:nvPr/>
        </p:nvSpPr>
        <p:spPr>
          <a:xfrm>
            <a:off x="4656614" y="2214879"/>
            <a:ext cx="2965054"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1F4E79"/>
                </a:solidFill>
                <a:latin typeface="Arial" pitchFamily="34" charset="0"/>
                <a:ea typeface="Arial" pitchFamily="34" charset="-122"/>
                <a:cs typeface="Arial" pitchFamily="34" charset="-120"/>
              </a:rPr>
              <a:t>1,422 (40.6%)</a:t>
            </a:r>
            <a:endParaRPr lang="en-US" sz="2800" dirty="0"/>
          </a:p>
        </p:txBody>
      </p:sp>
      <p:sp>
        <p:nvSpPr>
          <p:cNvPr id="9" name="Shape 7"/>
          <p:cNvSpPr/>
          <p:nvPr/>
        </p:nvSpPr>
        <p:spPr>
          <a:xfrm>
            <a:off x="7992507" y="1635764"/>
            <a:ext cx="3386693" cy="1259840"/>
          </a:xfrm>
          <a:prstGeom prst="roundRect">
            <a:avLst>
              <a:gd name="adj" fmla="val 6048"/>
            </a:avLst>
          </a:prstGeom>
          <a:solidFill>
            <a:srgbClr val="F2F2F2"/>
          </a:solidFill>
          <a:ln/>
        </p:spPr>
      </p:sp>
      <p:sp>
        <p:nvSpPr>
          <p:cNvPr id="10" name="Text 8"/>
          <p:cNvSpPr/>
          <p:nvPr/>
        </p:nvSpPr>
        <p:spPr>
          <a:xfrm>
            <a:off x="8246507" y="1889764"/>
            <a:ext cx="296505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4444"/>
                </a:solidFill>
                <a:latin typeface="Arial" pitchFamily="34" charset="0"/>
                <a:ea typeface="Arial" pitchFamily="34" charset="-122"/>
                <a:cs typeface="Arial" pitchFamily="34" charset="-120"/>
              </a:rPr>
              <a:t>Neutral</a:t>
            </a:r>
            <a:endParaRPr lang="en-US" sz="1400" dirty="0"/>
          </a:p>
        </p:txBody>
      </p:sp>
      <p:sp>
        <p:nvSpPr>
          <p:cNvPr id="11" name="Text 9"/>
          <p:cNvSpPr/>
          <p:nvPr/>
        </p:nvSpPr>
        <p:spPr>
          <a:xfrm>
            <a:off x="8246507" y="2214879"/>
            <a:ext cx="2965054"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1F4E79"/>
                </a:solidFill>
                <a:latin typeface="Arial" pitchFamily="34" charset="0"/>
                <a:ea typeface="Arial" pitchFamily="34" charset="-122"/>
                <a:cs typeface="Arial" pitchFamily="34" charset="-120"/>
              </a:rPr>
              <a:t>651 (18.6%)</a:t>
            </a:r>
            <a:endParaRPr lang="en-US" sz="2800" dirty="0"/>
          </a:p>
        </p:txBody>
      </p:sp>
      <p:sp>
        <p:nvSpPr>
          <p:cNvPr id="12" name="Text 10"/>
          <p:cNvSpPr/>
          <p:nvPr/>
        </p:nvSpPr>
        <p:spPr>
          <a:xfrm>
            <a:off x="812800" y="32512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222222"/>
                </a:solidFill>
                <a:latin typeface="Arial" pitchFamily="34" charset="0"/>
                <a:ea typeface="Arial" pitchFamily="34" charset="-122"/>
                <a:cs typeface="Arial" pitchFamily="34" charset="-120"/>
              </a:rPr>
              <a:t>Positive and negative posts are almost equal in number, showing mixed customer opinion.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Topic Category Distribution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95124"/>
          <a:ext cx="10556240" cy="348488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497840">
                <a:tc>
                  <a:txBody>
                    <a:bodyPr/>
                    <a:lstStyle/>
                    <a:p>
                      <a:pPr marL="0" indent="0">
                        <a:lnSpc>
                          <a:spcPts val="2240"/>
                        </a:lnSpc>
                        <a:buNone/>
                      </a:pPr>
                      <a:r>
                        <a:rPr lang="en-US" sz="1600" b="1" dirty="0">
                          <a:solidFill>
                            <a:srgbClr val="1F4E79"/>
                          </a:solidFill>
                          <a:latin typeface="Arial" pitchFamily="34" charset="0"/>
                          <a:ea typeface="Arial" pitchFamily="34" charset="-122"/>
                          <a:cs typeface="Arial" pitchFamily="34" charset="-120"/>
                        </a:rPr>
                        <a:t>Topic</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2240"/>
                        </a:lnSpc>
                        <a:buNone/>
                      </a:pPr>
                      <a:r>
                        <a:rPr lang="en-US" sz="1600" b="1" dirty="0">
                          <a:solidFill>
                            <a:srgbClr val="1F4E79"/>
                          </a:solidFill>
                          <a:latin typeface="Arial" pitchFamily="34" charset="0"/>
                          <a:ea typeface="Arial" pitchFamily="34" charset="-122"/>
                          <a:cs typeface="Arial" pitchFamily="34" charset="-120"/>
                        </a:rPr>
                        <a:t>Number of Posts</a:t>
                      </a:r>
                      <a:endParaRPr lang="en-US" sz="1600" dirty="0">
                        <a:latin typeface="Arial" charset="0"/>
                        <a:ea typeface="Arial" charset="0"/>
                        <a:cs typeface="Arial" charset="0"/>
                      </a:endParaRPr>
                    </a:p>
                  </a:txBody>
                  <a:tcPr marL="101600" marR="101600" marT="101600" marB="1016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497840">
                <a:tc>
                  <a:txBody>
                    <a:bodyPr/>
                    <a:lstStyle/>
                    <a:p>
                      <a:pPr marL="0" indent="0">
                        <a:lnSpc>
                          <a:spcPts val="2240"/>
                        </a:lnSpc>
                        <a:buNone/>
                      </a:pPr>
                      <a:r>
                        <a:rPr lang="en-US" sz="1600" dirty="0">
                          <a:solidFill>
                            <a:srgbClr val="1A1A1A"/>
                          </a:solidFill>
                          <a:latin typeface="Arial" pitchFamily="34" charset="0"/>
                          <a:ea typeface="Arial" pitchFamily="34" charset="-122"/>
                          <a:cs typeface="Arial" pitchFamily="34" charset="-120"/>
                        </a:rPr>
                        <a:t>Pricing</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dirty="0">
                          <a:solidFill>
                            <a:srgbClr val="1A1A1A"/>
                          </a:solidFill>
                          <a:latin typeface="Arial" pitchFamily="34" charset="0"/>
                          <a:ea typeface="Arial" pitchFamily="34" charset="-122"/>
                          <a:cs typeface="Arial" pitchFamily="34" charset="-120"/>
                        </a:rPr>
                        <a:t>623</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97840">
                <a:tc>
                  <a:txBody>
                    <a:bodyPr/>
                    <a:lstStyle/>
                    <a:p>
                      <a:pPr marL="0" indent="0">
                        <a:lnSpc>
                          <a:spcPts val="2240"/>
                        </a:lnSpc>
                        <a:buNone/>
                      </a:pPr>
                      <a:r>
                        <a:rPr lang="en-US" sz="1600" dirty="0">
                          <a:solidFill>
                            <a:srgbClr val="1A1A1A"/>
                          </a:solidFill>
                          <a:latin typeface="Arial" pitchFamily="34" charset="0"/>
                          <a:ea typeface="Arial" pitchFamily="34" charset="-122"/>
                          <a:cs typeface="Arial" pitchFamily="34" charset="-120"/>
                        </a:rPr>
                        <a:t>Returns</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dirty="0">
                          <a:solidFill>
                            <a:srgbClr val="1A1A1A"/>
                          </a:solidFill>
                          <a:latin typeface="Arial" pitchFamily="34" charset="0"/>
                          <a:ea typeface="Arial" pitchFamily="34" charset="-122"/>
                          <a:cs typeface="Arial" pitchFamily="34" charset="-120"/>
                        </a:rPr>
                        <a:t>611</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97840">
                <a:tc>
                  <a:txBody>
                    <a:bodyPr/>
                    <a:lstStyle/>
                    <a:p>
                      <a:pPr marL="0" indent="0">
                        <a:lnSpc>
                          <a:spcPts val="2240"/>
                        </a:lnSpc>
                        <a:buNone/>
                      </a:pPr>
                      <a:r>
                        <a:rPr lang="en-US" sz="1600" dirty="0">
                          <a:solidFill>
                            <a:srgbClr val="1A1A1A"/>
                          </a:solidFill>
                          <a:latin typeface="Arial" pitchFamily="34" charset="0"/>
                          <a:ea typeface="Arial" pitchFamily="34" charset="-122"/>
                          <a:cs typeface="Arial" pitchFamily="34" charset="-120"/>
                        </a:rPr>
                        <a:t>Delivery</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dirty="0">
                          <a:solidFill>
                            <a:srgbClr val="1A1A1A"/>
                          </a:solidFill>
                          <a:latin typeface="Arial" pitchFamily="34" charset="0"/>
                          <a:ea typeface="Arial" pitchFamily="34" charset="-122"/>
                          <a:cs typeface="Arial" pitchFamily="34" charset="-120"/>
                        </a:rPr>
                        <a:t>591</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497840">
                <a:tc>
                  <a:txBody>
                    <a:bodyPr/>
                    <a:lstStyle/>
                    <a:p>
                      <a:pPr marL="0" indent="0">
                        <a:lnSpc>
                          <a:spcPts val="2240"/>
                        </a:lnSpc>
                        <a:buNone/>
                      </a:pPr>
                      <a:r>
                        <a:rPr lang="en-US" sz="1600" dirty="0">
                          <a:solidFill>
                            <a:srgbClr val="1A1A1A"/>
                          </a:solidFill>
                          <a:latin typeface="Arial" pitchFamily="34" charset="0"/>
                          <a:ea typeface="Arial" pitchFamily="34" charset="-122"/>
                          <a:cs typeface="Arial" pitchFamily="34" charset="-120"/>
                        </a:rPr>
                        <a:t>Marketing</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dirty="0">
                          <a:solidFill>
                            <a:srgbClr val="1A1A1A"/>
                          </a:solidFill>
                          <a:latin typeface="Arial" pitchFamily="34" charset="0"/>
                          <a:ea typeface="Arial" pitchFamily="34" charset="-122"/>
                          <a:cs typeface="Arial" pitchFamily="34" charset="-120"/>
                        </a:rPr>
                        <a:t>578</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497840">
                <a:tc>
                  <a:txBody>
                    <a:bodyPr/>
                    <a:lstStyle/>
                    <a:p>
                      <a:pPr marL="0" indent="0">
                        <a:lnSpc>
                          <a:spcPts val="2240"/>
                        </a:lnSpc>
                        <a:buNone/>
                      </a:pPr>
                      <a:r>
                        <a:rPr lang="en-US" sz="1600" dirty="0">
                          <a:solidFill>
                            <a:srgbClr val="1A1A1A"/>
                          </a:solidFill>
                          <a:latin typeface="Arial" pitchFamily="34" charset="0"/>
                          <a:ea typeface="Arial" pitchFamily="34" charset="-122"/>
                          <a:cs typeface="Arial" pitchFamily="34" charset="-120"/>
                        </a:rPr>
                        <a:t>Product</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dirty="0">
                          <a:solidFill>
                            <a:srgbClr val="1A1A1A"/>
                          </a:solidFill>
                          <a:latin typeface="Arial" pitchFamily="34" charset="0"/>
                          <a:ea typeface="Arial" pitchFamily="34" charset="-122"/>
                          <a:cs typeface="Arial" pitchFamily="34" charset="-120"/>
                        </a:rPr>
                        <a:t>553</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497840">
                <a:tc>
                  <a:txBody>
                    <a:bodyPr/>
                    <a:lstStyle/>
                    <a:p>
                      <a:pPr marL="0" indent="0">
                        <a:lnSpc>
                          <a:spcPts val="2240"/>
                        </a:lnSpc>
                        <a:buNone/>
                      </a:pPr>
                      <a:r>
                        <a:rPr lang="en-US" sz="1600" dirty="0">
                          <a:solidFill>
                            <a:srgbClr val="1A1A1A"/>
                          </a:solidFill>
                          <a:latin typeface="Arial" pitchFamily="34" charset="0"/>
                          <a:ea typeface="Arial" pitchFamily="34" charset="-122"/>
                          <a:cs typeface="Arial" pitchFamily="34" charset="-120"/>
                        </a:rPr>
                        <a:t>Support</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240"/>
                        </a:lnSpc>
                        <a:buNone/>
                      </a:pPr>
                      <a:r>
                        <a:rPr lang="en-US" sz="1600" dirty="0">
                          <a:solidFill>
                            <a:srgbClr val="1A1A1A"/>
                          </a:solidFill>
                          <a:latin typeface="Arial" pitchFamily="34" charset="0"/>
                          <a:ea typeface="Arial" pitchFamily="34" charset="-122"/>
                          <a:cs typeface="Arial" pitchFamily="34" charset="-120"/>
                        </a:rPr>
                        <a:t>543</a:t>
                      </a:r>
                      <a:endParaRPr lang="en-US" sz="1600" dirty="0">
                        <a:latin typeface="Arial" charset="0"/>
                        <a:ea typeface="Arial" charset="0"/>
                        <a:cs typeface="Arial" charset="0"/>
                      </a:endParaRPr>
                    </a:p>
                  </a:txBody>
                  <a:tcPr marL="101600" marR="1016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Day-wise Engagement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69724"/>
          <a:ext cx="10556240" cy="363728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454660">
                <a:tc>
                  <a:txBody>
                    <a:bodyPr/>
                    <a:lstStyle/>
                    <a:p>
                      <a:pPr marL="0" indent="0">
                        <a:lnSpc>
                          <a:spcPts val="2100"/>
                        </a:lnSpc>
                        <a:buNone/>
                      </a:pPr>
                      <a:r>
                        <a:rPr lang="en-US" sz="1500" b="1" dirty="0">
                          <a:solidFill>
                            <a:srgbClr val="1F4E79"/>
                          </a:solidFill>
                          <a:latin typeface="Arial" pitchFamily="34" charset="0"/>
                          <a:ea typeface="Arial" pitchFamily="34" charset="-122"/>
                          <a:cs typeface="Arial" pitchFamily="34" charset="-120"/>
                        </a:rPr>
                        <a:t>Day</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2100"/>
                        </a:lnSpc>
                        <a:buNone/>
                      </a:pPr>
                      <a:r>
                        <a:rPr lang="en-US" sz="1500" b="1" dirty="0">
                          <a:solidFill>
                            <a:srgbClr val="1F4E79"/>
                          </a:solidFill>
                          <a:latin typeface="Arial" pitchFamily="34" charset="0"/>
                          <a:ea typeface="Arial" pitchFamily="34" charset="-122"/>
                          <a:cs typeface="Arial" pitchFamily="34" charset="-120"/>
                        </a:rPr>
                        <a:t>Total Engagement</a:t>
                      </a:r>
                      <a:endParaRPr lang="en-US" sz="1500" dirty="0">
                        <a:latin typeface="Arial" charset="0"/>
                        <a:ea typeface="Arial" charset="0"/>
                        <a:cs typeface="Arial" charset="0"/>
                      </a:endParaRPr>
                    </a:p>
                  </a:txBody>
                  <a:tcPr marL="88900" marR="88900" marT="88900" marB="889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454660">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Friday</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A1A1A"/>
                          </a:solidFill>
                          <a:latin typeface="Arial" pitchFamily="34" charset="0"/>
                          <a:ea typeface="Arial" pitchFamily="34" charset="-122"/>
                          <a:cs typeface="Arial" pitchFamily="34" charset="-120"/>
                        </a:rPr>
                        <a:t>20,44,472</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54660">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Monday</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A1A1A"/>
                          </a:solidFill>
                          <a:latin typeface="Arial" pitchFamily="34" charset="0"/>
                          <a:ea typeface="Arial" pitchFamily="34" charset="-122"/>
                          <a:cs typeface="Arial" pitchFamily="34" charset="-120"/>
                        </a:rPr>
                        <a:t>20,35,197</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54660">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Wednesday</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A1A1A"/>
                          </a:solidFill>
                          <a:latin typeface="Arial" pitchFamily="34" charset="0"/>
                          <a:ea typeface="Arial" pitchFamily="34" charset="-122"/>
                          <a:cs typeface="Arial" pitchFamily="34" charset="-120"/>
                        </a:rPr>
                        <a:t>20,40,194</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454660">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Saturday</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A1A1A"/>
                          </a:solidFill>
                          <a:latin typeface="Arial" pitchFamily="34" charset="0"/>
                          <a:ea typeface="Arial" pitchFamily="34" charset="-122"/>
                          <a:cs typeface="Arial" pitchFamily="34" charset="-120"/>
                        </a:rPr>
                        <a:t>20,01,529</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454660">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Thursday</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A1A1A"/>
                          </a:solidFill>
                          <a:latin typeface="Arial" pitchFamily="34" charset="0"/>
                          <a:ea typeface="Arial" pitchFamily="34" charset="-122"/>
                          <a:cs typeface="Arial" pitchFamily="34" charset="-120"/>
                        </a:rPr>
                        <a:t>19,98,018</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454660">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Sunday</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A1A1A"/>
                          </a:solidFill>
                          <a:latin typeface="Arial" pitchFamily="34" charset="0"/>
                          <a:ea typeface="Arial" pitchFamily="34" charset="-122"/>
                          <a:cs typeface="Arial" pitchFamily="34" charset="-120"/>
                        </a:rPr>
                        <a:t>19,94,363</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454660">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Tuesday</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100"/>
                        </a:lnSpc>
                        <a:buNone/>
                      </a:pPr>
                      <a:r>
                        <a:rPr lang="en-US" sz="1500" dirty="0">
                          <a:solidFill>
                            <a:srgbClr val="1A1A1A"/>
                          </a:solidFill>
                          <a:latin typeface="Arial" pitchFamily="34" charset="0"/>
                          <a:ea typeface="Arial" pitchFamily="34" charset="-122"/>
                          <a:cs typeface="Arial" pitchFamily="34" charset="-120"/>
                        </a:rPr>
                        <a:t>18,28,807</a:t>
                      </a:r>
                      <a:endParaRPr lang="en-US" sz="1500" dirty="0">
                        <a:latin typeface="Arial" charset="0"/>
                        <a:ea typeface="Arial" charset="0"/>
                        <a:cs typeface="Arial" charset="0"/>
                      </a:endParaRPr>
                    </a:p>
                  </a:txBody>
                  <a:tcPr marL="88900" marR="889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Top 5 Brands by Number of Posts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95124"/>
          <a:ext cx="10556240" cy="324612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541020">
                <a:tc>
                  <a:txBody>
                    <a:bodyPr/>
                    <a:lstStyle/>
                    <a:p>
                      <a:pPr marL="0" indent="0">
                        <a:lnSpc>
                          <a:spcPts val="2380"/>
                        </a:lnSpc>
                        <a:buNone/>
                      </a:pPr>
                      <a:r>
                        <a:rPr lang="en-US" sz="1700" b="1" dirty="0">
                          <a:solidFill>
                            <a:srgbClr val="1F4E79"/>
                          </a:solidFill>
                          <a:latin typeface="Arial" pitchFamily="34" charset="0"/>
                          <a:ea typeface="Arial" pitchFamily="34" charset="-122"/>
                          <a:cs typeface="Arial" pitchFamily="34" charset="-120"/>
                        </a:rPr>
                        <a:t>Brand</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2380"/>
                        </a:lnSpc>
                        <a:buNone/>
                      </a:pPr>
                      <a:r>
                        <a:rPr lang="en-US" sz="1700" b="1" dirty="0">
                          <a:solidFill>
                            <a:srgbClr val="1F4E79"/>
                          </a:solidFill>
                          <a:latin typeface="Arial" pitchFamily="34" charset="0"/>
                          <a:ea typeface="Arial" pitchFamily="34" charset="-122"/>
                          <a:cs typeface="Arial" pitchFamily="34" charset="-120"/>
                        </a:rPr>
                        <a:t>Posts</a:t>
                      </a:r>
                      <a:endParaRPr lang="en-US" sz="1700" dirty="0">
                        <a:latin typeface="Arial" charset="0"/>
                        <a:ea typeface="Arial" charset="0"/>
                        <a:cs typeface="Arial" charset="0"/>
                      </a:endParaRPr>
                    </a:p>
                  </a:txBody>
                  <a:tcPr marL="114300" marR="114300" marT="114300" marB="1143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Nike</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369</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Samsung</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360</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Adidas</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360</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Coca-Cola</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351</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Pepsi</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350</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Top 5 Brands by Total Engagement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95124"/>
          <a:ext cx="10556240" cy="324612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541020">
                <a:tc>
                  <a:txBody>
                    <a:bodyPr/>
                    <a:lstStyle/>
                    <a:p>
                      <a:pPr marL="0" indent="0">
                        <a:lnSpc>
                          <a:spcPts val="2380"/>
                        </a:lnSpc>
                        <a:buNone/>
                      </a:pPr>
                      <a:r>
                        <a:rPr lang="en-US" sz="1700" b="1" dirty="0">
                          <a:solidFill>
                            <a:srgbClr val="1F4E79"/>
                          </a:solidFill>
                          <a:latin typeface="Arial" pitchFamily="34" charset="0"/>
                          <a:ea typeface="Arial" pitchFamily="34" charset="-122"/>
                          <a:cs typeface="Arial" pitchFamily="34" charset="-120"/>
                        </a:rPr>
                        <a:t>Brand</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2380"/>
                        </a:lnSpc>
                        <a:buNone/>
                      </a:pPr>
                      <a:r>
                        <a:rPr lang="en-US" sz="1700" b="1" dirty="0">
                          <a:solidFill>
                            <a:srgbClr val="1F4E79"/>
                          </a:solidFill>
                          <a:latin typeface="Arial" pitchFamily="34" charset="0"/>
                          <a:ea typeface="Arial" pitchFamily="34" charset="-122"/>
                          <a:cs typeface="Arial" pitchFamily="34" charset="-120"/>
                        </a:rPr>
                        <a:t>Total Engagement</a:t>
                      </a:r>
                      <a:endParaRPr lang="en-US" sz="1700" dirty="0">
                        <a:latin typeface="Arial" charset="0"/>
                        <a:ea typeface="Arial" charset="0"/>
                        <a:cs typeface="Arial" charset="0"/>
                      </a:endParaRPr>
                    </a:p>
                  </a:txBody>
                  <a:tcPr marL="114300" marR="114300" marT="114300" marB="1143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Nike</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14,76,426</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Samsung</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14,43,069</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Adidas</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13,93,239</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Apple</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13,88,902</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41020">
                <a:tc>
                  <a:txBody>
                    <a:bodyPr/>
                    <a:lstStyle/>
                    <a:p>
                      <a:pPr marL="0" indent="0">
                        <a:lnSpc>
                          <a:spcPts val="2380"/>
                        </a:lnSpc>
                        <a:buNone/>
                      </a:pPr>
                      <a:r>
                        <a:rPr lang="en-US" sz="1700" dirty="0">
                          <a:solidFill>
                            <a:srgbClr val="1A1A1A"/>
                          </a:solidFill>
                          <a:latin typeface="Arial" pitchFamily="34" charset="0"/>
                          <a:ea typeface="Arial" pitchFamily="34" charset="-122"/>
                          <a:cs typeface="Arial" pitchFamily="34" charset="-120"/>
                        </a:rPr>
                        <a:t>Coca-Cola</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2380"/>
                        </a:lnSpc>
                        <a:buNone/>
                      </a:pPr>
                      <a:r>
                        <a:rPr lang="en-US" sz="1700" dirty="0">
                          <a:solidFill>
                            <a:srgbClr val="1A1A1A"/>
                          </a:solidFill>
                          <a:latin typeface="Arial" pitchFamily="34" charset="0"/>
                          <a:ea typeface="Arial" pitchFamily="34" charset="-122"/>
                          <a:cs typeface="Arial" pitchFamily="34" charset="-120"/>
                        </a:rPr>
                        <a:t>13,82,792</a:t>
                      </a:r>
                      <a:endParaRPr lang="en-US" sz="1700" dirty="0">
                        <a:latin typeface="Arial" charset="0"/>
                        <a:ea typeface="Arial" charset="0"/>
                        <a:cs typeface="Arial" charset="0"/>
                      </a:endParaRPr>
                    </a:p>
                  </a:txBody>
                  <a:tcPr marL="114300" marR="1143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812800" y="22707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FFFFFF"/>
                </a:solidFill>
                <a:latin typeface="Arial" pitchFamily="34" charset="0"/>
                <a:ea typeface="Arial" pitchFamily="34" charset="-122"/>
                <a:cs typeface="Arial" pitchFamily="34" charset="-120"/>
              </a:rPr>
              <a:t>Dashboard Highlights</a:t>
            </a:r>
            <a:endParaRPr lang="en-US" sz="3200" dirty="0"/>
          </a:p>
        </p:txBody>
      </p:sp>
      <p:sp>
        <p:nvSpPr>
          <p:cNvPr id="3" name="Shape 1"/>
          <p:cNvSpPr/>
          <p:nvPr/>
        </p:nvSpPr>
        <p:spPr>
          <a:xfrm>
            <a:off x="812800" y="3093721"/>
            <a:ext cx="5181600" cy="1290320"/>
          </a:xfrm>
          <a:prstGeom prst="roundRect">
            <a:avLst>
              <a:gd name="adj" fmla="val 5906"/>
            </a:avLst>
          </a:prstGeom>
          <a:solidFill>
            <a:srgbClr val="FFFFFF"/>
          </a:solidFill>
          <a:ln/>
        </p:spPr>
      </p:sp>
      <p:sp>
        <p:nvSpPr>
          <p:cNvPr id="4" name="Text 2"/>
          <p:cNvSpPr/>
          <p:nvPr/>
        </p:nvSpPr>
        <p:spPr>
          <a:xfrm>
            <a:off x="1066800" y="3347721"/>
            <a:ext cx="481380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4444"/>
                </a:solidFill>
                <a:latin typeface="Arial" pitchFamily="34" charset="0"/>
                <a:ea typeface="Arial" pitchFamily="34" charset="-122"/>
                <a:cs typeface="Arial" pitchFamily="34" charset="-120"/>
              </a:rPr>
              <a:t>Top Platform</a:t>
            </a:r>
            <a:endParaRPr lang="en-US" sz="1400" dirty="0"/>
          </a:p>
        </p:txBody>
      </p:sp>
      <p:sp>
        <p:nvSpPr>
          <p:cNvPr id="5" name="Text 3"/>
          <p:cNvSpPr/>
          <p:nvPr/>
        </p:nvSpPr>
        <p:spPr>
          <a:xfrm>
            <a:off x="1066800" y="3672842"/>
            <a:ext cx="4813808"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F4E79"/>
                </a:solidFill>
                <a:latin typeface="Arial" pitchFamily="34" charset="0"/>
                <a:ea typeface="Arial" pitchFamily="34" charset="-122"/>
                <a:cs typeface="Arial" pitchFamily="34" charset="-120"/>
              </a:rPr>
              <a:t>YouTube</a:t>
            </a:r>
            <a:endParaRPr lang="en-US" sz="3000" dirty="0"/>
          </a:p>
        </p:txBody>
      </p:sp>
      <p:sp>
        <p:nvSpPr>
          <p:cNvPr id="6" name="Shape 4"/>
          <p:cNvSpPr/>
          <p:nvPr/>
        </p:nvSpPr>
        <p:spPr>
          <a:xfrm>
            <a:off x="6197600" y="3093721"/>
            <a:ext cx="5181600" cy="1290320"/>
          </a:xfrm>
          <a:prstGeom prst="roundRect">
            <a:avLst>
              <a:gd name="adj" fmla="val 5906"/>
            </a:avLst>
          </a:prstGeom>
          <a:solidFill>
            <a:srgbClr val="FFFFFF"/>
          </a:solidFill>
          <a:ln/>
        </p:spPr>
      </p:sp>
      <p:sp>
        <p:nvSpPr>
          <p:cNvPr id="7" name="Text 5"/>
          <p:cNvSpPr/>
          <p:nvPr/>
        </p:nvSpPr>
        <p:spPr>
          <a:xfrm>
            <a:off x="6451600" y="3347721"/>
            <a:ext cx="481380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4444"/>
                </a:solidFill>
                <a:latin typeface="Arial" pitchFamily="34" charset="0"/>
                <a:ea typeface="Arial" pitchFamily="34" charset="-122"/>
                <a:cs typeface="Arial" pitchFamily="34" charset="-120"/>
              </a:rPr>
              <a:t>Top Brand</a:t>
            </a:r>
            <a:endParaRPr lang="en-US" sz="1400" dirty="0"/>
          </a:p>
        </p:txBody>
      </p:sp>
      <p:sp>
        <p:nvSpPr>
          <p:cNvPr id="8" name="Text 6"/>
          <p:cNvSpPr/>
          <p:nvPr/>
        </p:nvSpPr>
        <p:spPr>
          <a:xfrm>
            <a:off x="6451600" y="3672842"/>
            <a:ext cx="4813808" cy="482600"/>
          </a:xfrm>
          <a:prstGeom prst="rect">
            <a:avLst/>
          </a:prstGeom>
          <a:noFill/>
          <a:ln/>
        </p:spPr>
        <p:txBody>
          <a:bodyPr wrap="square" lIns="0" tIns="0" rIns="0" bIns="0" rtlCol="0" anchor="t">
            <a:normAutofit/>
          </a:bodyPr>
          <a:lstStyle/>
          <a:p>
            <a:pPr marL="0" indent="0" algn="l">
              <a:lnSpc>
                <a:spcPts val="3600"/>
              </a:lnSpc>
              <a:buNone/>
            </a:pPr>
            <a:r>
              <a:rPr lang="en-US" sz="3000" b="1" dirty="0">
                <a:solidFill>
                  <a:srgbClr val="1F4E79"/>
                </a:solidFill>
                <a:latin typeface="Arial" pitchFamily="34" charset="0"/>
                <a:ea typeface="Arial" pitchFamily="34" charset="-122"/>
                <a:cs typeface="Arial" pitchFamily="34" charset="-120"/>
              </a:rPr>
              <a:t>Nike</a:t>
            </a: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F4E79"/>
                </a:solidFill>
                <a:latin typeface="Arial" pitchFamily="34" charset="0"/>
                <a:ea typeface="Arial" pitchFamily="34" charset="-122"/>
                <a:cs typeface="Arial" pitchFamily="34" charset="-120"/>
              </a:rPr>
              <a:t>Key Insights</a:t>
            </a:r>
            <a:endParaRPr lang="en-US" sz="3200" dirty="0"/>
          </a:p>
        </p:txBody>
      </p:sp>
      <p:sp>
        <p:nvSpPr>
          <p:cNvPr id="3" name="Text 1"/>
          <p:cNvSpPr/>
          <p:nvPr/>
        </p:nvSpPr>
        <p:spPr>
          <a:xfrm>
            <a:off x="812800" y="1584964"/>
            <a:ext cx="10883392" cy="2098040"/>
          </a:xfrm>
          <a:prstGeom prst="rect">
            <a:avLst/>
          </a:prstGeom>
          <a:noFill/>
          <a:ln/>
        </p:spPr>
        <p:txBody>
          <a:bodyPr wrap="square" lIns="0" tIns="0" rIns="0" bIns="0" rtlCol="0" anchor="t">
            <a:normAutofit/>
          </a:bodyPr>
          <a:lstStyle/>
          <a:p>
            <a:pPr marL="259080" indent="-184404" algn="l">
              <a:lnSpc>
                <a:spcPts val="2720"/>
              </a:lnSpc>
              <a:buSzPct val="100000"/>
              <a:buChar char="•"/>
            </a:pPr>
            <a:r>
              <a:rPr lang="en-US" sz="1700" dirty="0">
                <a:solidFill>
                  <a:srgbClr val="222222"/>
                </a:solidFill>
                <a:latin typeface="Arial" pitchFamily="34" charset="0"/>
                <a:ea typeface="Arial" pitchFamily="34" charset="-122"/>
                <a:cs typeface="Arial" pitchFamily="34" charset="-120"/>
              </a:rPr>
              <a:t>Facebook and Reddit have the highest engagement rate, even though YouTube has the most total engagement.</a:t>
            </a:r>
            <a:endParaRPr lang="en-US" sz="1700" dirty="0"/>
          </a:p>
          <a:p>
            <a:pPr marL="259080" indent="-184404" algn="l">
              <a:lnSpc>
                <a:spcPts val="2720"/>
              </a:lnSpc>
              <a:buSzPct val="100000"/>
              <a:buChar char="•"/>
            </a:pPr>
            <a:r>
              <a:rPr lang="en-US" sz="1700" dirty="0">
                <a:solidFill>
                  <a:srgbClr val="222222"/>
                </a:solidFill>
                <a:latin typeface="Arial" pitchFamily="34" charset="0"/>
                <a:ea typeface="Arial" pitchFamily="34" charset="-122"/>
                <a:cs typeface="Arial" pitchFamily="34" charset="-120"/>
              </a:rPr>
              <a:t>Sentiment is almost equally split between positive and negative posts.</a:t>
            </a:r>
            <a:endParaRPr lang="en-US" sz="1700" dirty="0"/>
          </a:p>
          <a:p>
            <a:pPr marL="259080" indent="-184404" algn="l">
              <a:lnSpc>
                <a:spcPts val="2720"/>
              </a:lnSpc>
              <a:buSzPct val="100000"/>
              <a:buChar char="•"/>
            </a:pPr>
            <a:r>
              <a:rPr lang="en-US" sz="1700" dirty="0">
                <a:solidFill>
                  <a:srgbClr val="222222"/>
                </a:solidFill>
                <a:latin typeface="Arial" pitchFamily="34" charset="0"/>
                <a:ea typeface="Arial" pitchFamily="34" charset="-122"/>
                <a:cs typeface="Arial" pitchFamily="34" charset="-120"/>
              </a:rPr>
              <a:t>Nike is the most posted about and most engaged brand overall.</a:t>
            </a:r>
            <a:endParaRPr lang="en-US" sz="1700" dirty="0"/>
          </a:p>
          <a:p>
            <a:pPr marL="259080" indent="-184404" algn="l">
              <a:lnSpc>
                <a:spcPts val="2720"/>
              </a:lnSpc>
              <a:buSzPct val="100000"/>
              <a:buChar char="•"/>
            </a:pPr>
            <a:r>
              <a:rPr lang="en-US" sz="1700" dirty="0">
                <a:solidFill>
                  <a:srgbClr val="222222"/>
                </a:solidFill>
                <a:latin typeface="Arial" pitchFamily="34" charset="0"/>
                <a:ea typeface="Arial" pitchFamily="34" charset="-122"/>
                <a:cs typeface="Arial" pitchFamily="34" charset="-120"/>
              </a:rPr>
              <a:t>Friday shows the highest engagement among all days.</a:t>
            </a:r>
            <a:endParaRPr lang="en-US" sz="1700" dirty="0"/>
          </a:p>
          <a:p>
            <a:pPr marL="259080" indent="-184404" algn="l">
              <a:lnSpc>
                <a:spcPts val="2720"/>
              </a:lnSpc>
              <a:buSzPct val="100000"/>
              <a:buChar char="•"/>
            </a:pPr>
            <a:r>
              <a:rPr lang="en-US" sz="1700" dirty="0">
                <a:solidFill>
                  <a:srgbClr val="222222"/>
                </a:solidFill>
                <a:latin typeface="Arial" pitchFamily="34" charset="0"/>
                <a:ea typeface="Arial" pitchFamily="34" charset="-122"/>
                <a:cs typeface="Arial" pitchFamily="34" charset="-120"/>
              </a:rPr>
              <a:t>Pricing and Returns are the most discussed topics by users.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2211077"/>
            <a:ext cx="2563876" cy="551180"/>
          </a:xfrm>
          <a:prstGeom prst="rect">
            <a:avLst/>
          </a:prstGeom>
          <a:noFill/>
          <a:ln/>
        </p:spPr>
        <p:txBody>
          <a:bodyPr wrap="square" lIns="0" tIns="0" rIns="0" bIns="0" rtlCol="0" anchor="t">
            <a:normAutofit/>
          </a:bodyPr>
          <a:lstStyle/>
          <a:p>
            <a:pPr marL="0" indent="0" algn="l">
              <a:lnSpc>
                <a:spcPts val="4140"/>
              </a:lnSpc>
              <a:buNone/>
            </a:pPr>
            <a:r>
              <a:rPr lang="en-US" sz="3600" b="1" dirty="0">
                <a:solidFill>
                  <a:srgbClr val="1F4E79"/>
                </a:solidFill>
                <a:latin typeface="Arial" pitchFamily="34" charset="0"/>
                <a:ea typeface="Arial" pitchFamily="34" charset="-122"/>
                <a:cs typeface="Arial" pitchFamily="34" charset="-120"/>
              </a:rPr>
              <a:t>Conclusion</a:t>
            </a:r>
            <a:endParaRPr lang="en-US" sz="3600" dirty="0"/>
          </a:p>
        </p:txBody>
      </p:sp>
      <p:sp>
        <p:nvSpPr>
          <p:cNvPr id="3" name="Text 1"/>
          <p:cNvSpPr/>
          <p:nvPr/>
        </p:nvSpPr>
        <p:spPr>
          <a:xfrm>
            <a:off x="812800" y="2990850"/>
            <a:ext cx="9156700" cy="1061720"/>
          </a:xfrm>
          <a:prstGeom prst="rect">
            <a:avLst/>
          </a:prstGeom>
          <a:noFill/>
          <a:ln/>
        </p:spPr>
        <p:txBody>
          <a:bodyPr wrap="square" lIns="0" tIns="0" rIns="0" bIns="0" rtlCol="0" anchor="t">
            <a:normAutofit/>
          </a:bodyPr>
          <a:lstStyle/>
          <a:p>
            <a:pPr marL="0" indent="0" algn="l">
              <a:lnSpc>
                <a:spcPts val="2720"/>
              </a:lnSpc>
              <a:buNone/>
            </a:pPr>
            <a:r>
              <a:rPr lang="en-US" sz="1700" dirty="0">
                <a:solidFill>
                  <a:srgbClr val="222222"/>
                </a:solidFill>
                <a:latin typeface="Arial" pitchFamily="34" charset="0"/>
                <a:ea typeface="Arial" pitchFamily="34" charset="-122"/>
                <a:cs typeface="Arial" pitchFamily="34" charset="-120"/>
              </a:rPr>
              <a:t>This dashboard gives a clear picture of how brands are performing across social media. YouTube leads in overall engagement, Facebook and Reddit lead in engagement rate, and Nike is the top performing brand in this dataset.</a:t>
            </a:r>
            <a:endParaRPr lang="en-US" sz="1700" dirty="0"/>
          </a:p>
        </p:txBody>
      </p:sp>
      <p:sp>
        <p:nvSpPr>
          <p:cNvPr id="4" name="Text 2"/>
          <p:cNvSpPr/>
          <p:nvPr/>
        </p:nvSpPr>
        <p:spPr>
          <a:xfrm>
            <a:off x="812800" y="4281177"/>
            <a:ext cx="1580674" cy="39116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1F4E79"/>
                </a:solidFill>
                <a:latin typeface="Arial" pitchFamily="34" charset="0"/>
                <a:ea typeface="Arial" pitchFamily="34" charset="-122"/>
                <a:cs typeface="Arial" pitchFamily="34" charset="-120"/>
              </a:rPr>
              <a:t>Thank You</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514</Words>
  <Application>Microsoft Office PowerPoint</Application>
  <PresentationFormat>Widescreen</PresentationFormat>
  <Paragraphs>164</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Engagement Dashboard</dc:title>
  <dc:subject>PptxGenJS Presentation</dc:subject>
  <dc:creator>PptxGenJS</dc:creator>
  <cp:lastModifiedBy>suraj kumar</cp:lastModifiedBy>
  <cp:revision>2</cp:revision>
  <dcterms:created xsi:type="dcterms:W3CDTF">2026-09-25T06:41:44Z</dcterms:created>
  <dcterms:modified xsi:type="dcterms:W3CDTF">2026-09-25T06:56:36Z</dcterms:modified>
</cp:coreProperties>
</file>